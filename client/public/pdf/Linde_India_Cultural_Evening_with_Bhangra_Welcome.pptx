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82" r:id="rId8"/>
    <p:sldId id="261" r:id="rId9"/>
    <p:sldId id="262" r:id="rId10"/>
    <p:sldId id="263" r:id="rId11"/>
    <p:sldId id="264" r:id="rId12"/>
    <p:sldId id="265" r:id="rId13"/>
    <p:sldId id="279" r:id="rId14"/>
    <p:sldId id="266" r:id="rId15"/>
    <p:sldId id="267" r:id="rId16"/>
    <p:sldId id="280" r:id="rId17"/>
    <p:sldId id="268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3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youtube.com/watch?v=avuKPnNYRKg&amp;t=35s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6858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36C5F0"/>
                </a:solidFill>
                <a:latin typeface="Aptos"/>
              </a:rPr>
              <a:t>LINDE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ONE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84831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36C5F0"/>
                </a:solidFill>
                <a:latin typeface="Aptos"/>
              </a:rPr>
              <a:t>Many Cultures. One Celebration.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Cultural Evening  |  Fairmont Mumbai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8076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FC6DE"/>
                </a:solidFill>
                <a:latin typeface="Aptos"/>
              </a:rPr>
              <a:t>Presented by MIKE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CREATIVE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contemporary celebration of India through architecture, rhythm, performance, light and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56693"/>
            <a:ext cx="5029200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ONE INDIA.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MANY CULTURES.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ONE CELEBRATION.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36C5F0"/>
                </a:solidFill>
                <a:latin typeface="Aptos"/>
              </a:rPr>
              <a:t>Corporate Linde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572137"/>
            <a:ext cx="4572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+ Contemporary India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+ Premium Entertainment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977639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6C16A"/>
                </a:solidFill>
                <a:latin typeface="Aptos"/>
              </a:rPr>
              <a:t>Less décor. More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FAIRMONT MUMBAI — BUILT FOR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Use the ballroom as a high-production canvas, not a heavily decorated environment.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6751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73736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PLANNING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≈ 15,000 sq. 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Pre-function welcome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447288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2" y="3502152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Grand ballroom reveal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014215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2" y="4069079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60 ft hero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581144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2" y="4636007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Immersive LED storytelling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148072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91272" y="5202936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Performance + DJ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FROM WELCOME TO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One continuous guest journey with energy building at every transition.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ARRIVAL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INDIAN 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PRE-FUNCTION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7223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BALLROOM REVEAL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74936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EMCEE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DRUM CIRCLE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62072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CULTURAL SHOW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9784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9512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97496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07223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3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CELEBRATION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65208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74936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4936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DJ NIGHT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WEAR A COLOUR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AFC6DE"/>
                </a:solidFill>
                <a:latin typeface="Aptos"/>
              </a:rPr>
              <a:t>A curated Safa / </a:t>
            </a:r>
            <a:r>
              <a:rPr sz="1200" b="0" dirty="0" err="1">
                <a:solidFill>
                  <a:srgbClr val="AFC6DE"/>
                </a:solidFill>
                <a:latin typeface="Aptos"/>
              </a:rPr>
              <a:t>Pagdi</a:t>
            </a:r>
            <a:r>
              <a:rPr sz="1200" b="0" dirty="0">
                <a:solidFill>
                  <a:srgbClr val="AFC6DE"/>
                </a:solidFill>
                <a:latin typeface="Aptos"/>
              </a:rPr>
              <a:t> welcome — </a:t>
            </a:r>
            <a:r>
              <a:rPr sz="1200" b="0" dirty="0" err="1">
                <a:solidFill>
                  <a:srgbClr val="AFC6DE"/>
                </a:solidFill>
                <a:latin typeface="Aptos"/>
              </a:rPr>
              <a:t>colourful</a:t>
            </a:r>
            <a:r>
              <a:rPr sz="1200" b="0" dirty="0">
                <a:solidFill>
                  <a:srgbClr val="AFC6DE"/>
                </a:solidFill>
                <a:latin typeface="Aptos"/>
              </a:rPr>
              <a:t>, elegant and distinctly corporate.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00200"/>
            <a:ext cx="5760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ARRIVAL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82847"/>
            <a:ext cx="4389120" cy="8463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Safa /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Pagdi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Welcome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74720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3529584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Professional tying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41648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4096511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Linde welcome signage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08576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663440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Warm ambient lighting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75504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5230368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Contemporary Indian instrumental music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92024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LIVE SAFA TYING — WEAR A COLOUR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An interactive pre-function welcome that instantly brings colour, participation and Indian culture into the guest journey.</a:t>
            </a:r>
          </a:p>
        </p:txBody>
      </p:sp>
      <p:pic>
        <p:nvPicPr>
          <p:cNvPr id="5" name="Picture 4" descr="live_safa_tying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70916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627632"/>
            <a:ext cx="5806440" cy="443484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196596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LIVE SAFA / PAGDI TYING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606040"/>
            <a:ext cx="4892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Guests choose from colourful Safas and have them tied live by professional artists in the pre-function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70332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685032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Creates an immediate cultural arrival moment.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4361688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343400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simple activity that naturally starts conversations.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0200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PHOTO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5001768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Guests can carry the Safa into the ballroom for vibrant photographs.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" y="5715000"/>
            <a:ext cx="43434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highlight>
                  <a:srgbClr val="C0C0C0"/>
                </a:highlight>
                <a:latin typeface="Aptos"/>
              </a:rPr>
              <a:t>PRE-FUNCTION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650992"/>
            <a:ext cx="4800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C16A"/>
                </a:solidFill>
                <a:latin typeface="Aptos"/>
              </a:rPr>
              <a:t>Premium • Participative • Colourful • Corporate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BHANGRA WELCOME — ENERGY AT 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vibrant Punjabi welcome performance to greet guests as they arrive and set an energetic tone for the evening.</a:t>
            </a:r>
          </a:p>
        </p:txBody>
      </p:sp>
      <p:pic>
        <p:nvPicPr>
          <p:cNvPr id="5" name="Picture 4" descr="bhangra_welcom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66344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627632"/>
            <a:ext cx="5852160" cy="443484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9659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LIVE BHANGRA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4846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colourful group of Punjabi performers welcomes guests in the pre-function area with upbeat music, movement and traditional props.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7307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ARRIVAL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12464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Creates instant energy at the entrance.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CULTURAL 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370832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Adds a joyful North Indian flavour without heavy décor.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047488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PHOTO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Performers can interact with guests for lively arrival photographs.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42976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highlight>
                  <a:srgbClr val="C0C0C0"/>
                </a:highlight>
                <a:latin typeface="Aptos"/>
              </a:rPr>
              <a:t>WELCOME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650992"/>
            <a:ext cx="4846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C16A"/>
                </a:solidFill>
                <a:latin typeface="Aptos"/>
              </a:rPr>
              <a:t>Suggested duration: 10–15 minutes during guest arrival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PRE-FUNCTION — CONNECTION BEFORE THE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Elegant touchpoints that make Linde’s nationwide presence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3246120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6C5F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LIVE INDIAN 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FC6DE"/>
                </a:solidFill>
                <a:latin typeface="Aptos"/>
              </a:rPr>
              <a:t>Flute + tabla / santoor / sarangi with contemporary backing.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383280" cy="3246120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10312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6C5F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51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INDIA PHOTO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5204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FC6DE"/>
                </a:solidFill>
                <a:latin typeface="Aptos"/>
              </a:rPr>
              <a:t>A clean Linde × India installation with modern architectural line 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383280" cy="3246120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6C5F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INDIA CONNECTION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204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FC6DE"/>
                </a:solidFill>
                <a:latin typeface="Aptos"/>
              </a:rPr>
              <a:t>Guests mark the city or state they represent on a premium India 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532120"/>
            <a:ext cx="6217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6C16A"/>
                </a:solidFill>
                <a:latin typeface="Aptos"/>
              </a:rPr>
              <a:t>“Where in India are you joining us from?”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THE GRAND BALLROOM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71600"/>
            <a:ext cx="6400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Monumental stage • Immersive LED • Intelligent lighting • Contemporary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150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INDIA SHOULD BE EXPERIENCED — NOT OVER-DECORATED.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HERO STAGE — CONTEMPORARY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Gateway geometry and jali-inspired layers frame a dominant LED canvas.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230368"/>
            <a:ext cx="3886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285231"/>
            <a:ext cx="3739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60 ft W  ×  20 ft D  ×  2.5 ft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STAGE — TECHNICAL DESIGN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Performance-first planning with clean sightlines and generous open floor.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55064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Large-format central 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00200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6512" y="1655064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Architectural side wings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313432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E-podium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258568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96512" y="2313432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Steps both sides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971800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Performer entry /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916936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2971800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Box truss + moving heads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75304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630168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Profiles + stage wash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575304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96512" y="3630168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Audience wash + haze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00200"/>
            <a:ext cx="3749039" cy="342900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196596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60′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487168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6C5F0"/>
                </a:solidFill>
                <a:latin typeface="Aptos"/>
              </a:rPr>
              <a:t>STAGE WIDTH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15468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20′ DEPTH  •  2.5′ HEIGHT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77639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6C16A"/>
                </a:solidFill>
                <a:latin typeface="Aptos"/>
              </a:rPr>
              <a:t>OPEN PERFORMANCE ZONE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ONE STAGE. FOUR WORLDS.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LED content and lighting transform the environment without changing the physical 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87168" cy="3246120"/>
          </a:xfrm>
          <a:prstGeom prst="roundRect">
            <a:avLst/>
          </a:prstGeom>
          <a:solidFill>
            <a:srgbClr val="0B4F9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One India. Many Cultures.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28800"/>
            <a:ext cx="2487168" cy="3246120"/>
          </a:xfrm>
          <a:prstGeom prst="roundRect">
            <a:avLst/>
          </a:prstGeom>
          <a:solidFill>
            <a:srgbClr val="124D7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DRUM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Rhythm graphics + pulses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2487168" cy="3246120"/>
          </a:xfrm>
          <a:prstGeom prst="roundRect">
            <a:avLst/>
          </a:prstGeom>
          <a:solidFill>
            <a:srgbClr val="8A3F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CULTURAL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Landscapes + regional colour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828800"/>
            <a:ext cx="2487168" cy="3246120"/>
          </a:xfrm>
          <a:prstGeom prst="roundRect">
            <a:avLst/>
          </a:prstGeom>
          <a:solidFill>
            <a:srgbClr val="442E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736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DJ 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Linde blue + kinetic energy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YOUR EMCEE — ANGELA REBELLO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Warm. Engaging. Energetic. The voice connecting every moment of the evening.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4160520" cy="434340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32120" y="1828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Aptos"/>
              </a:rPr>
              <a:t>ANGELA REBELLO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6C5F0"/>
                </a:solidFill>
                <a:latin typeface="Aptos"/>
              </a:rPr>
              <a:t>EMCEE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3017520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Angela will anchor the cultural journey from the opening welcome through audience interactions, performance transitions and the seamless handover into the DJ celebration.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44751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C16A"/>
                </a:solidFill>
                <a:latin typeface="Aptos"/>
              </a:rPr>
              <a:t>ROLE THROUGH THE EVENING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4904943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FC6DE"/>
                </a:solidFill>
                <a:latin typeface="Aptos"/>
              </a:rPr>
              <a:t>Welcome  •  Leadership moments  •  Interactive fillers  •  Cultural transitions  •  DJ handover</a:t>
            </a:r>
          </a:p>
        </p:txBody>
      </p:sp>
      <p:sp>
        <p:nvSpPr>
          <p:cNvPr id="12" name="Rounded Rectangle 11">
            <a:hlinkClick r:id="rId2"/>
            <a:extLst>
              <a:ext uri="{FF2B5EF4-FFF2-40B4-BE49-F238E27FC236}">
                <a16:creationId xmlns:a16="http://schemas.microsoft.com/office/drawing/2014/main" id="{818E4303-C02A-9241-856E-4B048E770975}"/>
              </a:ext>
            </a:extLst>
          </p:cNvPr>
          <p:cNvSpPr/>
          <p:nvPr/>
        </p:nvSpPr>
        <p:spPr>
          <a:xfrm>
            <a:off x="7160706" y="5742432"/>
            <a:ext cx="1873566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91F38C2-64D7-32F7-2DF6-D5A5243CCAF8}"/>
              </a:ext>
            </a:extLst>
          </p:cNvPr>
          <p:cNvSpPr/>
          <p:nvPr/>
        </p:nvSpPr>
        <p:spPr>
          <a:xfrm>
            <a:off x="5633456" y="5750772"/>
            <a:ext cx="1492525" cy="4173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Video Link</a:t>
            </a:r>
          </a:p>
        </p:txBody>
      </p:sp>
      <p:pic>
        <p:nvPicPr>
          <p:cNvPr id="16" name="Picture 15" descr="Angela Rebello (@angela.rebello.3) • Facebook">
            <a:extLst>
              <a:ext uri="{FF2B5EF4-FFF2-40B4-BE49-F238E27FC236}">
                <a16:creationId xmlns:a16="http://schemas.microsoft.com/office/drawing/2014/main" id="{1972A25D-38E8-EA9E-472A-C6AA41EE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11679"/>
            <a:ext cx="32461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OPEN WITH PEOPLE. THEN BUILD THE BEAT.</a:t>
            </a:r>
          </a:p>
        </p:txBody>
      </p:sp>
      <p:pic>
        <p:nvPicPr>
          <p:cNvPr id="4" name="Picture 3" descr="drum_circle_indi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554480"/>
            <a:ext cx="562356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554480"/>
            <a:ext cx="2783134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ONE RHYTHM.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ONE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76116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36C5F0"/>
                </a:solidFill>
                <a:latin typeface="Aptos"/>
              </a:rPr>
              <a:t>INTERACTIVE DRUM 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493669"/>
            <a:ext cx="4752070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A professional facilitator builds a simple rhythm. </a:t>
            </a:r>
            <a:endParaRPr lang="en-US"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Different sections join one by one until the entire </a:t>
            </a:r>
            <a:endParaRPr lang="en-US"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ballroom plays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03333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6C16A"/>
                </a:solidFill>
                <a:latin typeface="Aptos"/>
              </a:rPr>
              <a:t>Different rhythms → Different people → One collective 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3266" y="5400513"/>
            <a:ext cx="21499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highlight>
                  <a:srgbClr val="C0C0C0"/>
                </a:highlight>
                <a:latin typeface="Aptos"/>
              </a:rPr>
              <a:t>THE RHYTHM OF ONE LINDE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RHYTHMS OF INDIA</a:t>
            </a:r>
          </a:p>
        </p:txBody>
      </p:sp>
      <p:pic>
        <p:nvPicPr>
          <p:cNvPr id="4" name="Picture 3" descr="dances_indi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37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7373"/>
            <a:ext cx="30544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One theatrical production </a:t>
            </a:r>
            <a:r>
              <a:rPr lang="en-US" sz="1800" b="1" dirty="0">
                <a:solidFill>
                  <a:srgbClr val="FFFFFF"/>
                </a:solidFill>
                <a:latin typeface="Aptos"/>
              </a:rPr>
              <a:t>–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 </a:t>
            </a:r>
            <a:endParaRPr lang="en-US" sz="18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not disconnected folk 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514600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259689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NORTH — Punjabi / Bhangra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81528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316382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WEST — Rajasthan / Gujarat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48456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3730752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MAHARASHTRA — High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215383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297679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SOUTH — Tamil Nadu / Kerala / Karnataka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782312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4864608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EAST + NORTH-EAST — Regional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5321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6C5F0"/>
                </a:solidFill>
                <a:latin typeface="Aptos"/>
              </a:rPr>
              <a:t>MANY CULTURES. ONE INDIA. ONE LINDE.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AF2234-F101-4B7B-1768-40FB9C14FAC9}"/>
              </a:ext>
            </a:extLst>
          </p:cNvPr>
          <p:cNvSpPr/>
          <p:nvPr/>
        </p:nvSpPr>
        <p:spPr>
          <a:xfrm>
            <a:off x="594360" y="5349240"/>
            <a:ext cx="6537960" cy="585216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9B2B8-D71A-E82A-7CDF-334C9AECA5B9}"/>
              </a:ext>
            </a:extLst>
          </p:cNvPr>
          <p:cNvSpPr txBox="1"/>
          <p:nvPr/>
        </p:nvSpPr>
        <p:spPr>
          <a:xfrm>
            <a:off x="2117337" y="5511043"/>
            <a:ext cx="30348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A CONTEMPORARY JOURNEY ACROSS INDIA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DANCES OF INDIA — THE 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Colour comes alive through costume, choreography, music and lighting — while the ballroom remains clean and corporate.</a:t>
            </a:r>
          </a:p>
        </p:txBody>
      </p:sp>
      <p:pic>
        <p:nvPicPr>
          <p:cNvPr id="5" name="Picture 4" descr="dances_india_crop.jpg"/>
          <p:cNvPicPr>
            <a:picLocks noChangeAspect="1"/>
          </p:cNvPicPr>
          <p:nvPr/>
        </p:nvPicPr>
        <p:blipFill>
          <a:blip r:embed="rId2"/>
          <a:srcRect t="13609"/>
          <a:stretch>
            <a:fillRect/>
          </a:stretch>
        </p:blipFill>
        <p:spPr>
          <a:xfrm>
            <a:off x="2167468" y="1645920"/>
            <a:ext cx="7394220" cy="434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36988" y="5257800"/>
            <a:ext cx="7424700" cy="73152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32000" y="5486400"/>
            <a:ext cx="76651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36C5F0"/>
                </a:solidFill>
                <a:latin typeface="Aptos"/>
              </a:rPr>
              <a:t>CINEMATIC MUSIC  •  COORDINATED COSTUMES  •  REGIONAL COLOUR  •  CONTEMPORARY TRANSITIONS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EMCEE FILLERS — KEEP THE ENERGY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Short 3–5 minute interactions connect the entertainment segments without breaking momentum.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4650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Guess the Indian song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74650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Guess the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52374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Complete a Bollywood dialogue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6888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52374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Regional language greetings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30098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Linde employee shout-outs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30098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Leadership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Quick audience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07822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Fun table challenges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OPTIONAL WOW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Add one unexpected high-production act between cultural segments.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09728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LED DHOL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0848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INDIA FUSION PERCUSSION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93591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CONTEMPORARY VISUAL / AERIAL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3756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593591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LIVE PERCUSSION + ELECTRONIC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6C16A"/>
                </a:solidFill>
                <a:latin typeface="Aptos"/>
              </a:rPr>
              <a:t>Recommended: INDIA FUSION PERCUSSION — modern, inclusive and easy to integrate into the stage language.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GRAND CULTURAL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The emotional high point: regional groups converge into one contemporary India visual.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5166360"/>
            <a:ext cx="5760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ONE INDIA  •  ONE LINDE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FROM CULTURE TO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No hard stop — the finale music evolves into a contemporary Bollywood / commercial track and the DJ takes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CULTURAL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874519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7451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DANCE FLOOR OPENS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6C5F0"/>
                </a:solidFill>
                <a:latin typeface="Aptos"/>
              </a:rPr>
              <a:t>DJ NIGHT</a:t>
            </a:r>
          </a:p>
        </p:txBody>
      </p:sp>
      <p:pic>
        <p:nvPicPr>
          <p:cNvPr id="10" name="Picture 9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106527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DJ NIGHT — SAME STAGE. NEW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sophisticated corporate party atmosphere in Linde blue.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30352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BOLLYWOOD  →  COMMERCIAL  →  RETRO  →  PUNJABI  →  INTERNATIONAL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SUGGESTED PROGRAM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Indicative evening sequence — designed to keep energy continuous.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7:00–7:45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5727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Arrival + Safa/Pagdi +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7:45–7:50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8424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Ballroom Opening / Seating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7:50–8:00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9572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Emcee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8:00–8:20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0720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Interactive Drum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8:20–8:30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21868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Leadership / Emcee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01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8:30–8:45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6301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Dances of India — Act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8:45–8:55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4164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Audience Filler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8:55–9:10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45312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Dances of India — Act 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9:10–9:20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6460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Fusion / WOW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7608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9:20–9:30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27608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Grand India Finale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9:30 onwards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6875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Dinner + DJ + Celebration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PRODUCTION &amp;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Lighting evolves with the show — warm welcome to cinematic culture to high-energy celebration.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Large-format 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Professional sound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Box trussing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Moving-head beams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Moving-head washes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Audience wash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wash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Atmospheric haze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Wireless microphones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Time-coded show lighting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DJ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6C16A"/>
                </a:solidFill>
                <a:latin typeface="Aptos"/>
              </a:rPr>
              <a:t>WELCOME → WARM     DRUM CIRCLE → ENERGETIC     CULTURE → CINEMATIC     FINALE → SPECTACULAR     DJ → HIGH ENERGY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VISUAL STORYTELLING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Keep physical fabrication selective. Let the show itself carry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72948"/>
            <a:ext cx="4754880" cy="1123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INDIA SHOULD BE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EXPERIENCED </a:t>
            </a:r>
            <a:r>
              <a:rPr lang="en-US" dirty="0">
                <a:solidFill>
                  <a:schemeClr val="bg1"/>
                </a:solidFill>
              </a:rPr>
              <a:t>-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NOT OVER-DECORATED.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1883664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Entertainment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7112" y="1883664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78608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633472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Costumes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578608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7112" y="2633472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Music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28415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3383279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328415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7112" y="3383279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Guest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6C5F0"/>
                </a:solidFill>
                <a:latin typeface="Aptos"/>
              </a:rPr>
              <a:t>This keeps the environment sophisticated, contemporary and appropriate for Linde.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COMPLETE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premium Indian cultural evening built around participation, performance and transformation.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53512" y="2011680"/>
            <a:ext cx="1828800" cy="1828800"/>
          </a:xfrm>
          <a:prstGeom prst="ellipse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221224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58384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RHYTHM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488936" y="2011680"/>
            <a:ext cx="1828800" cy="1828800"/>
          </a:xfrm>
          <a:prstGeom prst="ellipse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6096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756648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CELEBRATE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8348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6C16A"/>
                </a:solidFill>
                <a:latin typeface="Aptos"/>
              </a:rPr>
              <a:t>ONE INDIA. MANY CULTURES. ONE CELEBRATION.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ONE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36C5F0"/>
                </a:solidFill>
                <a:latin typeface="Aptos"/>
              </a:rPr>
              <a:t>ONE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ONE LINDE.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49039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E6C16A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315968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LET'S CELEBRATE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978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FC6DE"/>
                </a:solidFill>
                <a:latin typeface="Aptos"/>
              </a:rPr>
              <a:t>Presented by MIKE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1337</Words>
  <Application>Microsoft Macintosh PowerPoint</Application>
  <PresentationFormat>Widescreen</PresentationFormat>
  <Paragraphs>278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Malhotra</cp:lastModifiedBy>
  <cp:revision>7</cp:revision>
  <dcterms:created xsi:type="dcterms:W3CDTF">2013-01-27T09:14:16Z</dcterms:created>
  <dcterms:modified xsi:type="dcterms:W3CDTF">2026-08-22T07:16:16Z</dcterms:modified>
  <cp:category/>
</cp:coreProperties>
</file>